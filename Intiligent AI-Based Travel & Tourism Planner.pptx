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66" r:id="rId4"/>
    <p:sldId id="257" r:id="rId5"/>
    <p:sldId id="260" r:id="rId6"/>
    <p:sldId id="262" r:id="rId7"/>
    <p:sldId id="265" r:id="rId8"/>
    <p:sldId id="261" r:id="rId9"/>
    <p:sldId id="271" r:id="rId10"/>
    <p:sldId id="270" r:id="rId11"/>
    <p:sldId id="267" r:id="rId12"/>
    <p:sldId id="268" r:id="rId13"/>
    <p:sldId id="259" r:id="rId14"/>
    <p:sldId id="269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B0EF"/>
    <a:srgbClr val="EA7E68"/>
    <a:srgbClr val="FFFFFF"/>
    <a:srgbClr val="F39E34"/>
    <a:srgbClr val="23AAAD"/>
    <a:srgbClr val="1B1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28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DE5F0-F600-46C3-AE4D-5148C69FFBA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EF6FF-9132-45E0-97B0-6601D5F6581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BE4D0-E68C-4FB2-8B3A-AA41DAF039F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216400" cy="6858000"/>
          </a:xfrm>
          <a:prstGeom prst="rect">
            <a:avLst/>
          </a:prstGeom>
          <a:solidFill>
            <a:srgbClr val="1B1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62794" y="-1"/>
            <a:ext cx="7010400" cy="685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 rot="9009327">
            <a:off x="3174227" y="688903"/>
            <a:ext cx="2299791" cy="5480193"/>
            <a:chOff x="3753542" y="990487"/>
            <a:chExt cx="2046332" cy="4876222"/>
          </a:xfrm>
        </p:grpSpPr>
        <p:sp>
          <p:nvSpPr>
            <p:cNvPr id="12" name="Oval 11"/>
            <p:cNvSpPr/>
            <p:nvPr/>
          </p:nvSpPr>
          <p:spPr>
            <a:xfrm rot="2843287">
              <a:off x="3753542" y="3846218"/>
              <a:ext cx="2020491" cy="2020491"/>
            </a:xfrm>
            <a:custGeom>
              <a:avLst/>
              <a:gdLst>
                <a:gd name="connsiteX0" fmla="*/ 0 w 4040981"/>
                <a:gd name="connsiteY0" fmla="*/ 2020491 h 4040981"/>
                <a:gd name="connsiteX1" fmla="*/ 2020491 w 4040981"/>
                <a:gd name="connsiteY1" fmla="*/ 0 h 4040981"/>
                <a:gd name="connsiteX2" fmla="*/ 4040982 w 4040981"/>
                <a:gd name="connsiteY2" fmla="*/ 2020491 h 4040981"/>
                <a:gd name="connsiteX3" fmla="*/ 2020491 w 4040981"/>
                <a:gd name="connsiteY3" fmla="*/ 4040982 h 4040981"/>
                <a:gd name="connsiteX4" fmla="*/ 0 w 4040981"/>
                <a:gd name="connsiteY4" fmla="*/ 2020491 h 4040981"/>
                <a:gd name="connsiteX0-1" fmla="*/ 2020491 w 4040982"/>
                <a:gd name="connsiteY0-2" fmla="*/ 0 h 4040982"/>
                <a:gd name="connsiteX1-3" fmla="*/ 4040982 w 4040982"/>
                <a:gd name="connsiteY1-4" fmla="*/ 2020491 h 4040982"/>
                <a:gd name="connsiteX2-5" fmla="*/ 2020491 w 4040982"/>
                <a:gd name="connsiteY2-6" fmla="*/ 4040982 h 4040982"/>
                <a:gd name="connsiteX3-7" fmla="*/ 0 w 4040982"/>
                <a:gd name="connsiteY3-8" fmla="*/ 2020491 h 4040982"/>
                <a:gd name="connsiteX4-9" fmla="*/ 2111931 w 4040982"/>
                <a:gd name="connsiteY4-10" fmla="*/ 91440 h 4040982"/>
                <a:gd name="connsiteX0-11" fmla="*/ 2020491 w 4040982"/>
                <a:gd name="connsiteY0-12" fmla="*/ 0 h 4040982"/>
                <a:gd name="connsiteX1-13" fmla="*/ 4040982 w 4040982"/>
                <a:gd name="connsiteY1-14" fmla="*/ 2020491 h 4040982"/>
                <a:gd name="connsiteX2-15" fmla="*/ 2020491 w 4040982"/>
                <a:gd name="connsiteY2-16" fmla="*/ 4040982 h 4040982"/>
                <a:gd name="connsiteX3-17" fmla="*/ 0 w 4040982"/>
                <a:gd name="connsiteY3-18" fmla="*/ 2020491 h 4040982"/>
                <a:gd name="connsiteX0-19" fmla="*/ 4040982 w 4040982"/>
                <a:gd name="connsiteY0-20" fmla="*/ 0 h 2020491"/>
                <a:gd name="connsiteX1-21" fmla="*/ 2020491 w 4040982"/>
                <a:gd name="connsiteY1-22" fmla="*/ 2020491 h 2020491"/>
                <a:gd name="connsiteX2-23" fmla="*/ 0 w 4040982"/>
                <a:gd name="connsiteY2-24" fmla="*/ 0 h 2020491"/>
                <a:gd name="connsiteX0-25" fmla="*/ 2020491 w 2020491"/>
                <a:gd name="connsiteY0-26" fmla="*/ 0 h 2020491"/>
                <a:gd name="connsiteX1-27" fmla="*/ 0 w 2020491"/>
                <a:gd name="connsiteY1-28" fmla="*/ 2020491 h 20204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020491" h="2020491">
                  <a:moveTo>
                    <a:pt x="2020491" y="0"/>
                  </a:moveTo>
                  <a:cubicBezTo>
                    <a:pt x="2020491" y="1115886"/>
                    <a:pt x="1115886" y="2020491"/>
                    <a:pt x="0" y="2020491"/>
                  </a:cubicBezTo>
                </a:path>
              </a:pathLst>
            </a:custGeom>
            <a:noFill/>
            <a:ln w="403225" cap="rnd">
              <a:gradFill>
                <a:gsLst>
                  <a:gs pos="0">
                    <a:schemeClr val="bg1"/>
                  </a:gs>
                  <a:gs pos="100000">
                    <a:srgbClr val="23AAAD"/>
                  </a:gs>
                </a:gsLst>
                <a:lin ang="21594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 rot="18815050">
              <a:off x="3779383" y="990487"/>
              <a:ext cx="2020491" cy="2020491"/>
            </a:xfrm>
            <a:custGeom>
              <a:avLst/>
              <a:gdLst>
                <a:gd name="connsiteX0" fmla="*/ 0 w 4040981"/>
                <a:gd name="connsiteY0" fmla="*/ 2020491 h 4040981"/>
                <a:gd name="connsiteX1" fmla="*/ 2020491 w 4040981"/>
                <a:gd name="connsiteY1" fmla="*/ 0 h 4040981"/>
                <a:gd name="connsiteX2" fmla="*/ 4040982 w 4040981"/>
                <a:gd name="connsiteY2" fmla="*/ 2020491 h 4040981"/>
                <a:gd name="connsiteX3" fmla="*/ 2020491 w 4040981"/>
                <a:gd name="connsiteY3" fmla="*/ 4040982 h 4040981"/>
                <a:gd name="connsiteX4" fmla="*/ 0 w 4040981"/>
                <a:gd name="connsiteY4" fmla="*/ 2020491 h 4040981"/>
                <a:gd name="connsiteX0-1" fmla="*/ 0 w 4040982"/>
                <a:gd name="connsiteY0-2" fmla="*/ 2020491 h 4040982"/>
                <a:gd name="connsiteX1-3" fmla="*/ 2020491 w 4040982"/>
                <a:gd name="connsiteY1-4" fmla="*/ 0 h 4040982"/>
                <a:gd name="connsiteX2-5" fmla="*/ 4040982 w 4040982"/>
                <a:gd name="connsiteY2-6" fmla="*/ 2020491 h 4040982"/>
                <a:gd name="connsiteX3-7" fmla="*/ 2020491 w 4040982"/>
                <a:gd name="connsiteY3-8" fmla="*/ 4040982 h 4040982"/>
                <a:gd name="connsiteX4-9" fmla="*/ 91440 w 4040982"/>
                <a:gd name="connsiteY4-10" fmla="*/ 2111931 h 4040982"/>
                <a:gd name="connsiteX0-11" fmla="*/ 1935425 w 3955916"/>
                <a:gd name="connsiteY0-12" fmla="*/ 0 h 4040982"/>
                <a:gd name="connsiteX1-13" fmla="*/ 3955916 w 3955916"/>
                <a:gd name="connsiteY1-14" fmla="*/ 2020491 h 4040982"/>
                <a:gd name="connsiteX2-15" fmla="*/ 1935425 w 3955916"/>
                <a:gd name="connsiteY2-16" fmla="*/ 4040982 h 4040982"/>
                <a:gd name="connsiteX3-17" fmla="*/ 6374 w 3955916"/>
                <a:gd name="connsiteY3-18" fmla="*/ 2111931 h 4040982"/>
                <a:gd name="connsiteX0-19" fmla="*/ 0 w 2020491"/>
                <a:gd name="connsiteY0-20" fmla="*/ 0 h 4040982"/>
                <a:gd name="connsiteX1-21" fmla="*/ 2020491 w 2020491"/>
                <a:gd name="connsiteY1-22" fmla="*/ 2020491 h 4040982"/>
                <a:gd name="connsiteX2-23" fmla="*/ 0 w 2020491"/>
                <a:gd name="connsiteY2-24" fmla="*/ 4040982 h 4040982"/>
                <a:gd name="connsiteX0-25" fmla="*/ 0 w 2020491"/>
                <a:gd name="connsiteY0-26" fmla="*/ 0 h 2020491"/>
                <a:gd name="connsiteX1-27" fmla="*/ 2020491 w 2020491"/>
                <a:gd name="connsiteY1-28" fmla="*/ 2020491 h 20204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2020491" h="2020491">
                  <a:moveTo>
                    <a:pt x="0" y="0"/>
                  </a:moveTo>
                  <a:cubicBezTo>
                    <a:pt x="1115886" y="0"/>
                    <a:pt x="2020491" y="904605"/>
                    <a:pt x="2020491" y="2020491"/>
                  </a:cubicBezTo>
                </a:path>
              </a:pathLst>
            </a:custGeom>
            <a:noFill/>
            <a:ln w="403225" cap="rnd">
              <a:gradFill>
                <a:gsLst>
                  <a:gs pos="100000">
                    <a:schemeClr val="bg1"/>
                  </a:gs>
                  <a:gs pos="0">
                    <a:srgbClr val="F39E34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022307" y="3936999"/>
            <a:ext cx="4406899" cy="14506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spc="-300">
                <a:solidFill>
                  <a:srgbClr val="898989"/>
                </a:solidFill>
                <a:ea typeface="+mn-lt"/>
                <a:cs typeface="+mn-lt"/>
              </a:rPr>
              <a:t>Personalized Travel Itinerary Generator with AI Assistance</a:t>
            </a:r>
            <a:endParaRPr lang="en-US" dirty="0"/>
          </a:p>
          <a:p>
            <a:pPr>
              <a:lnSpc>
                <a:spcPct val="70000"/>
              </a:lnSpc>
            </a:pPr>
            <a:endParaRPr lang="en-US" sz="3200" spc="-300" dirty="0">
              <a:solidFill>
                <a:srgbClr val="23AAA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8628856" y="746366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/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/>
          <p:cNvSpPr/>
          <p:nvPr/>
        </p:nvSpPr>
        <p:spPr>
          <a:xfrm>
            <a:off x="10997406" y="5740400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94" y="209112"/>
            <a:ext cx="961988" cy="96198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530" y="2055306"/>
            <a:ext cx="2860109" cy="25544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95261" y="1452302"/>
            <a:ext cx="51800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Intelligent AI-Based Travel &amp; Tourism Planner</a:t>
            </a:r>
            <a:endParaRPr lang="en-IN" sz="4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8312837" y="5356135"/>
            <a:ext cx="4045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Prepared &amp; Presented By</a:t>
            </a:r>
            <a:br>
              <a:rPr lang="en-US" sz="2400" dirty="0"/>
            </a:br>
            <a:r>
              <a:rPr lang="en-US" sz="2400" dirty="0"/>
              <a:t>Kota Tejas Reddy</a:t>
            </a:r>
            <a:br>
              <a:rPr lang="en-US" sz="2400" dirty="0"/>
            </a:br>
            <a:r>
              <a:rPr lang="en-US" sz="2400" dirty="0"/>
              <a:t>Agentic AI Developer</a:t>
            </a:r>
            <a:endParaRPr lang="en-IN" sz="20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a typeface="Calibri Light" panose="020F0302020204030204"/>
                <a:cs typeface="Calibri Light" panose="020F0302020204030204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515591" cy="4667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dirty="0"/>
              <a:t>Travel planning is often time-consuming and confusing, requiring visits to multiple websites. Manual planning can lead to higher costs and errors. Our project introduces an AI-driven solution that makes planning faster and smarter. It collects data, processes it, and provides instant suggestions. This makes traveling easier and more enjoyable for users.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21986" y="6188230"/>
            <a:ext cx="5699842" cy="609290"/>
            <a:chOff x="618333" y="6026099"/>
            <a:chExt cx="4886323" cy="609290"/>
          </a:xfrm>
        </p:grpSpPr>
        <p:sp>
          <p:nvSpPr>
            <p:cNvPr id="5" name="TextBox 4"/>
            <p:cNvSpPr txBox="1"/>
            <p:nvPr/>
          </p:nvSpPr>
          <p:spPr>
            <a:xfrm>
              <a:off x="1123157" y="6050614"/>
              <a:ext cx="4381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6" name="Graphic 5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Flowchart: Connector 7"/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/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/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/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628"/>
            <a:ext cx="10515600" cy="832304"/>
          </a:xfrm>
        </p:spPr>
        <p:txBody>
          <a:bodyPr/>
          <a:lstStyle/>
          <a:p>
            <a:pPr algn="ctr"/>
            <a:r>
              <a:rPr lang="en-IN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519" y="1513341"/>
            <a:ext cx="10515591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The aim of this project is to simplify trip planning with accurate, cost-effective, and personalized recommendations. By using AI, it saves time, reduces errors, and lets users focus on enjoying their journey.</a:t>
            </a:r>
            <a:endParaRPr lang="en-IN" sz="3200" dirty="0"/>
          </a:p>
        </p:txBody>
      </p:sp>
      <p:grpSp>
        <p:nvGrpSpPr>
          <p:cNvPr id="4" name="Group 3"/>
          <p:cNvGrpSpPr/>
          <p:nvPr/>
        </p:nvGrpSpPr>
        <p:grpSpPr>
          <a:xfrm>
            <a:off x="232871" y="6271130"/>
            <a:ext cx="5514785" cy="609290"/>
            <a:chOff x="618333" y="6026099"/>
            <a:chExt cx="4886323" cy="609290"/>
          </a:xfrm>
        </p:grpSpPr>
        <p:sp>
          <p:nvSpPr>
            <p:cNvPr id="5" name="TextBox 4"/>
            <p:cNvSpPr txBox="1"/>
            <p:nvPr/>
          </p:nvSpPr>
          <p:spPr>
            <a:xfrm>
              <a:off x="1123157" y="6050614"/>
              <a:ext cx="4381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6" name="Graphic 5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Flowchart: Connector 7"/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/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/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/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4" name="Picture 2" descr="Time is money - Free business and finance ic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453" y="3003540"/>
            <a:ext cx="3234578" cy="323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9725025" y="4267826"/>
            <a:ext cx="2057400" cy="1943100"/>
          </a:xfrm>
          <a:prstGeom prst="rect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677150" y="628650"/>
            <a:ext cx="3705225" cy="5124450"/>
          </a:xfrm>
          <a:prstGeom prst="rect">
            <a:avLst/>
          </a:prstGeom>
          <a:solidFill>
            <a:srgbClr val="1B1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 dirty="0"/>
          </a:p>
          <a:p>
            <a:pPr algn="ctr"/>
            <a:r>
              <a:rPr lang="en-US" sz="3200" dirty="0"/>
              <a:t>Our AI system offers personalized, cost-effective, and dynamic travel planning unlike existing apps.</a:t>
            </a:r>
            <a:endParaRPr lang="en-US" sz="3200" dirty="0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32872" y="6271130"/>
            <a:ext cx="5384157" cy="609290"/>
            <a:chOff x="618333" y="6026099"/>
            <a:chExt cx="4886323" cy="609290"/>
          </a:xfrm>
        </p:grpSpPr>
        <p:sp>
          <p:nvSpPr>
            <p:cNvPr id="6" name="TextBox 5"/>
            <p:cNvSpPr txBox="1"/>
            <p:nvPr/>
          </p:nvSpPr>
          <p:spPr>
            <a:xfrm>
              <a:off x="1123157" y="6050614"/>
              <a:ext cx="4381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8" name="Graphic 7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0" name="Straight Connector 9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Rectangle 17"/>
          <p:cNvSpPr/>
          <p:nvPr/>
        </p:nvSpPr>
        <p:spPr>
          <a:xfrm>
            <a:off x="7403057" y="338953"/>
            <a:ext cx="542925" cy="1647826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78519" y="3389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Literature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9624" y="1407795"/>
          <a:ext cx="6287861" cy="3962400"/>
        </p:xfrm>
        <a:graphic>
          <a:graphicData uri="http://schemas.openxmlformats.org/drawingml/2006/table">
            <a:tbl>
              <a:tblPr/>
              <a:tblGrid>
                <a:gridCol w="3037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0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Existing Travel Apps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Proposed AI System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Manual searching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Automated AI itinerary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Generic recommendations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Personalized to user preferences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Costly and may miss deals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Optimized cost-efficient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Less flexible, hard to re-plan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Dynamic re-planning in real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Limited personalization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AI-driven insights and adaptability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496552" y="4594034"/>
            <a:ext cx="2258446" cy="1994053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00698" y="140271"/>
            <a:ext cx="3776344" cy="33623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620125" y="118629"/>
            <a:ext cx="4381499" cy="6426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0000"/>
              </a:lnSpc>
            </a:pPr>
            <a:r>
              <a:rPr lang="en-US" sz="4800" b="1" spc="-3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Architecture</a:t>
            </a:r>
            <a:endParaRPr lang="en-US" b="1" dirty="0"/>
          </a:p>
        </p:txBody>
      </p:sp>
      <p:grpSp>
        <p:nvGrpSpPr>
          <p:cNvPr id="13" name="Group 12"/>
          <p:cNvGrpSpPr/>
          <p:nvPr/>
        </p:nvGrpSpPr>
        <p:grpSpPr>
          <a:xfrm>
            <a:off x="126706" y="6376302"/>
            <a:ext cx="5370579" cy="388987"/>
            <a:chOff x="618333" y="6026099"/>
            <a:chExt cx="5370579" cy="388987"/>
          </a:xfrm>
        </p:grpSpPr>
        <p:sp>
          <p:nvSpPr>
            <p:cNvPr id="14" name="TextBox 13"/>
            <p:cNvSpPr txBox="1"/>
            <p:nvPr/>
          </p:nvSpPr>
          <p:spPr>
            <a:xfrm>
              <a:off x="1123157" y="6050614"/>
              <a:ext cx="4865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15" name="Graphic 14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6" name="Straight Connector 15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389168" y="737037"/>
            <a:ext cx="5706832" cy="50167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travel-planner/</a:t>
            </a:r>
          </a:p>
          <a:p>
            <a:r>
              <a:rPr lang="en-US" sz="3200" dirty="0"/>
              <a:t>├</a:t>
            </a:r>
            <a:r>
              <a:rPr lang="en-IN" sz="3200" dirty="0"/>
              <a:t>─ .</a:t>
            </a:r>
            <a:r>
              <a:rPr lang="en-IN" sz="3200" dirty="0" err="1"/>
              <a:t>env.example</a:t>
            </a:r>
            <a:endParaRPr lang="en-IN" sz="3200" dirty="0"/>
          </a:p>
          <a:p>
            <a:r>
              <a:rPr lang="en-US" sz="3200" dirty="0"/>
              <a:t>├</a:t>
            </a:r>
            <a:r>
              <a:rPr lang="en-IN" sz="3200" dirty="0"/>
              <a:t>─ requirements.txt</a:t>
            </a:r>
          </a:p>
          <a:p>
            <a:r>
              <a:rPr lang="en-US" sz="3200" dirty="0"/>
              <a:t>├</a:t>
            </a:r>
            <a:r>
              <a:rPr lang="en-IN" sz="3200" dirty="0"/>
              <a:t>─ main.py</a:t>
            </a:r>
          </a:p>
          <a:p>
            <a:r>
              <a:rPr lang="en-US" sz="3200" dirty="0"/>
              <a:t>├</a:t>
            </a:r>
            <a:r>
              <a:rPr lang="en-IN" sz="3200" dirty="0"/>
              <a:t>─ routes.py</a:t>
            </a:r>
          </a:p>
          <a:p>
            <a:r>
              <a:rPr lang="en-US" sz="3200" dirty="0"/>
              <a:t>├</a:t>
            </a:r>
            <a:r>
              <a:rPr lang="en-IN" sz="3200" dirty="0"/>
              <a:t>─ models.py</a:t>
            </a:r>
          </a:p>
          <a:p>
            <a:r>
              <a:rPr lang="en-US" sz="3200" dirty="0"/>
              <a:t>├</a:t>
            </a:r>
            <a:r>
              <a:rPr lang="en-IN" sz="3200" dirty="0"/>
              <a:t>─ database.py</a:t>
            </a:r>
          </a:p>
          <a:p>
            <a:r>
              <a:rPr lang="en-US" sz="3200" dirty="0"/>
              <a:t>├</a:t>
            </a:r>
            <a:r>
              <a:rPr lang="en-IN" sz="3200" dirty="0"/>
              <a:t>─ llm_client.py</a:t>
            </a:r>
          </a:p>
          <a:p>
            <a:r>
              <a:rPr lang="en-US" sz="3200" dirty="0"/>
              <a:t>├</a:t>
            </a:r>
            <a:r>
              <a:rPr lang="en-IN" sz="3200" dirty="0"/>
              <a:t>─ logger.py</a:t>
            </a:r>
          </a:p>
          <a:p>
            <a:r>
              <a:rPr lang="en-US" sz="3200" dirty="0"/>
              <a:t>├</a:t>
            </a:r>
            <a:r>
              <a:rPr lang="en-IN" sz="3200" dirty="0"/>
              <a:t>─ </a:t>
            </a:r>
            <a:r>
              <a:rPr lang="en-IN" sz="3200" dirty="0" err="1"/>
              <a:t>postman_collection.json</a:t>
            </a:r>
            <a:endParaRPr lang="en-IN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686" y="737037"/>
            <a:ext cx="4112516" cy="549741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50" name="Picture 2" descr="Digital future artificial intelligence for travel &amp; touris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5" y="4606488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1326"/>
            <a:ext cx="10515600" cy="102329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Comparison of Manual Planning vs AI-based Planning</a:t>
            </a:r>
            <a:br>
              <a:rPr lang="en-IN" b="1" dirty="0"/>
            </a:br>
            <a:endParaRPr lang="en-IN" b="1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1273628" y="1209507"/>
          <a:ext cx="9252856" cy="49674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83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3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4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02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Time Taken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Several hours to days (research, booking)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Few minutes (automated)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4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Cost Efficiency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May miss cheaper options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Finds optimized deals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48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Personalization	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Generic, depends on user’s research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Tailored to preferences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4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Accuracy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Prone to human error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Data-driven, highly accurate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48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Flexibility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Hard to re-plan quickly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Dynamic re-planning possibl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48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User Effort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High (multiple websites, calls)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Low (single interface)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lowchart: Connector 3"/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/>
          <p:cNvSpPr/>
          <p:nvPr/>
        </p:nvSpPr>
        <p:spPr>
          <a:xfrm>
            <a:off x="10961912" y="5346575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232872" y="6271130"/>
            <a:ext cx="5351499" cy="609290"/>
            <a:chOff x="618333" y="6026099"/>
            <a:chExt cx="4886323" cy="609290"/>
          </a:xfrm>
        </p:grpSpPr>
        <p:sp>
          <p:nvSpPr>
            <p:cNvPr id="16" name="TextBox 15"/>
            <p:cNvSpPr txBox="1"/>
            <p:nvPr/>
          </p:nvSpPr>
          <p:spPr>
            <a:xfrm>
              <a:off x="1123157" y="6050614"/>
              <a:ext cx="4381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17" name="Graphic 16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8" name="Straight Connector 17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Accuracy of Recommendations vs User Satisfaction</a:t>
            </a:r>
            <a:br>
              <a:rPr lang="en-IN" b="1" dirty="0"/>
            </a:br>
            <a:endParaRPr lang="en-IN" b="1" dirty="0"/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</p:nvPr>
        </p:nvGraphicFramePr>
        <p:xfrm>
          <a:off x="998951" y="1137352"/>
          <a:ext cx="9701706" cy="50151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8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Metric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 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10979" marR="10979" marT="5489" marB="54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kern="100">
                          <a:effectLst/>
                        </a:rPr>
                        <a:t>Accuracy (%) 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4" marR="1144" marT="1144" marB="1144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User Satisfaction (%)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 marL="10979" marR="10979" marT="5489" marB="54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9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Destination Recommendation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88%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85%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Hotel Recommendation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92%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89%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29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Restaurant/Food Suggestion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86%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83%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Activity Planning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90%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87%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79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Transportation Planning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84%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82%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Overall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88%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85%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34" marR="8234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232872" y="6271130"/>
            <a:ext cx="5351499" cy="609290"/>
            <a:chOff x="618333" y="6026099"/>
            <a:chExt cx="4886323" cy="609290"/>
          </a:xfrm>
        </p:grpSpPr>
        <p:sp>
          <p:nvSpPr>
            <p:cNvPr id="5" name="TextBox 4"/>
            <p:cNvSpPr txBox="1"/>
            <p:nvPr/>
          </p:nvSpPr>
          <p:spPr>
            <a:xfrm>
              <a:off x="1123157" y="6050614"/>
              <a:ext cx="4381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6" name="Graphic 5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Flowchart: Connector 7"/>
          <p:cNvSpPr/>
          <p:nvPr/>
        </p:nvSpPr>
        <p:spPr>
          <a:xfrm>
            <a:off x="11060434" y="1137352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/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/>
          <p:cNvSpPr/>
          <p:nvPr/>
        </p:nvSpPr>
        <p:spPr>
          <a:xfrm>
            <a:off x="10545724" y="5936595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732633" y="442914"/>
            <a:ext cx="5130795" cy="5115464"/>
            <a:chOff x="965200" y="1122616"/>
            <a:chExt cx="4248146" cy="4235452"/>
          </a:xfrm>
        </p:grpSpPr>
        <p:sp>
          <p:nvSpPr>
            <p:cNvPr id="4" name="Rectangle 3"/>
            <p:cNvSpPr/>
            <p:nvPr/>
          </p:nvSpPr>
          <p:spPr>
            <a:xfrm>
              <a:off x="965200" y="1122616"/>
              <a:ext cx="2095498" cy="2095498"/>
            </a:xfrm>
            <a:prstGeom prst="rect">
              <a:avLst/>
            </a:prstGeom>
            <a:solidFill>
              <a:srgbClr val="1B13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17848" y="3262570"/>
              <a:ext cx="2095498" cy="2095498"/>
            </a:xfrm>
            <a:prstGeom prst="rect">
              <a:avLst/>
            </a:prstGeom>
            <a:solidFill>
              <a:srgbClr val="F39E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875918" y="727507"/>
            <a:ext cx="238760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Suggestions, hotel recommendations, food options, and activity planning.</a:t>
            </a:r>
          </a:p>
          <a:p>
            <a:endParaRPr lang="en-US" sz="1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05376" y="3199046"/>
            <a:ext cx="23852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Focus on saving time, cost, and effort</a:t>
            </a:r>
            <a:r>
              <a:rPr lang="en-US" dirty="0"/>
              <a:t>.</a:t>
            </a:r>
            <a:endParaRPr lang="en-US" sz="3200" b="1" spc="-3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96000" y="442914"/>
            <a:ext cx="6307773" cy="722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5400" b="1" spc="-300" dirty="0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Modules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30514" y="1677083"/>
            <a:ext cx="55959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project is divided into key modules such as destination suggestions, hotel recommendations, food options, and activity planning. It also includes transportation and re-planning features. Each module works independently yet integrates into a single platform. The features focus on saving time, cost, and effort. Together, they create a complete AI-based travel planner.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32872" y="6271130"/>
            <a:ext cx="5351499" cy="609290"/>
            <a:chOff x="618333" y="6026099"/>
            <a:chExt cx="4886323" cy="609290"/>
          </a:xfrm>
        </p:grpSpPr>
        <p:sp>
          <p:nvSpPr>
            <p:cNvPr id="18" name="TextBox 17"/>
            <p:cNvSpPr txBox="1"/>
            <p:nvPr/>
          </p:nvSpPr>
          <p:spPr>
            <a:xfrm>
              <a:off x="1123157" y="6050614"/>
              <a:ext cx="4381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19" name="Graphic 18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22" name="Straight Connector 21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C6C21-2C8E-C068-D844-403483515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078"/>
            <a:ext cx="10515600" cy="615777"/>
          </a:xfrm>
        </p:spPr>
        <p:txBody>
          <a:bodyPr>
            <a:noAutofit/>
          </a:bodyPr>
          <a:lstStyle/>
          <a:p>
            <a:pPr algn="ctr"/>
            <a:r>
              <a:rPr lang="en-IN" b="1" dirty="0"/>
              <a:t>END POINTS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57CCF66-A148-4A1E-0C70-A0AC0DC1CC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7992781"/>
              </p:ext>
            </p:extLst>
          </p:nvPr>
        </p:nvGraphicFramePr>
        <p:xfrm>
          <a:off x="947652" y="886690"/>
          <a:ext cx="10651374" cy="5519648"/>
        </p:xfrm>
        <a:graphic>
          <a:graphicData uri="http://schemas.openxmlformats.org/drawingml/2006/table">
            <a:tbl>
              <a:tblPr/>
              <a:tblGrid>
                <a:gridCol w="3550458">
                  <a:extLst>
                    <a:ext uri="{9D8B030D-6E8A-4147-A177-3AD203B41FA5}">
                      <a16:colId xmlns:a16="http://schemas.microsoft.com/office/drawing/2014/main" val="33623323"/>
                    </a:ext>
                  </a:extLst>
                </a:gridCol>
                <a:gridCol w="3550458">
                  <a:extLst>
                    <a:ext uri="{9D8B030D-6E8A-4147-A177-3AD203B41FA5}">
                      <a16:colId xmlns:a16="http://schemas.microsoft.com/office/drawing/2014/main" val="1693928908"/>
                    </a:ext>
                  </a:extLst>
                </a:gridCol>
                <a:gridCol w="3550458">
                  <a:extLst>
                    <a:ext uri="{9D8B030D-6E8A-4147-A177-3AD203B41FA5}">
                      <a16:colId xmlns:a16="http://schemas.microsoft.com/office/drawing/2014/main" val="1078034027"/>
                    </a:ext>
                  </a:extLst>
                </a:gridCol>
              </a:tblGrid>
              <a:tr h="344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Method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Endpoint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Purpose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335303"/>
                  </a:ext>
                </a:extLst>
              </a:tr>
              <a:tr h="603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GET</a:t>
                      </a:r>
                      <a:endParaRPr lang="en-IN" sz="1600" dirty="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/api/v1/locations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Get available locations (cities, states, countries).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198582"/>
                  </a:ext>
                </a:extLst>
              </a:tr>
              <a:tr h="603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POST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/api/v1/plan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Create a new travel plan (AI-generated itinerary).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551513"/>
                  </a:ext>
                </a:extLst>
              </a:tr>
              <a:tr h="603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GET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/api/v1/plan/{user_id}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Retrieve an existing travel plan by </a:t>
                      </a:r>
                      <a:r>
                        <a:rPr lang="en-GB" sz="1600">
                          <a:latin typeface="Courier New" panose="02070309020205020404" pitchFamily="49" charset="0"/>
                        </a:rPr>
                        <a:t>user_id</a:t>
                      </a:r>
                      <a:r>
                        <a:rPr lang="en-GB" sz="1600"/>
                        <a:t>.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179788"/>
                  </a:ext>
                </a:extLst>
              </a:tr>
              <a:tr h="603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POST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api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/v1/suggestions</a:t>
                      </a:r>
                      <a:endParaRPr lang="en-IN" sz="1600" dirty="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Get tourist spots and hotel suggestions (low + high budget).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621048"/>
                  </a:ext>
                </a:extLst>
              </a:tr>
              <a:tr h="344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GET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/api/v1/search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Search travel plans by destination.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021241"/>
                  </a:ext>
                </a:extLst>
              </a:tr>
              <a:tr h="603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POST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/api/v1/feedback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Submit feedback (rating + comments) for a plan.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745807"/>
                  </a:ext>
                </a:extLst>
              </a:tr>
              <a:tr h="603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POST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/api/v1/group_trip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Register group trip details (travelers info).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836706"/>
                  </a:ext>
                </a:extLst>
              </a:tr>
              <a:tr h="603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POST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/api/v1/group-trip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Alternative endpoint for creating group trips.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667528"/>
                  </a:ext>
                </a:extLst>
              </a:tr>
              <a:tr h="603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POST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/api/v1/book</a:t>
                      </a:r>
                      <a:endParaRPr lang="en-IN" sz="1600"/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Book trip automatically (transport, hotel, restaurant).</a:t>
                      </a:r>
                    </a:p>
                  </a:txBody>
                  <a:tcPr marL="79201" marR="79201" marT="39601" marB="396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250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580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068"/>
          </a:xfrm>
        </p:spPr>
        <p:txBody>
          <a:bodyPr>
            <a:noAutofit/>
          </a:bodyPr>
          <a:lstStyle/>
          <a:p>
            <a:pPr algn="ctr"/>
            <a:r>
              <a:rPr lang="en-IN" b="1" dirty="0"/>
              <a:t>Tourism </a:t>
            </a:r>
            <a:r>
              <a:rPr lang="en-IN" b="1" dirty="0" err="1"/>
              <a:t>Palces</a:t>
            </a:r>
            <a:r>
              <a:rPr lang="en-IN" b="1" dirty="0"/>
              <a:t> To Be Search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10515600" cy="2981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22">
                <a:tc>
                  <a:txBody>
                    <a:bodyPr/>
                    <a:lstStyle/>
                    <a:p>
                      <a:r>
                        <a:rPr lang="en-IN" dirty="0"/>
                        <a:t>INDIAN 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INDIA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WORLD TOURISM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22">
                <a:tc>
                  <a:txBody>
                    <a:bodyPr/>
                    <a:lstStyle/>
                    <a:p>
                      <a:r>
                        <a:rPr lang="en-IN" dirty="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Rajasthan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22">
                <a:tc>
                  <a:txBody>
                    <a:bodyPr/>
                    <a:lstStyle/>
                    <a:p>
                      <a:r>
                        <a:rPr lang="en-IN" dirty="0"/>
                        <a:t>Mumbai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Kerala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New York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22">
                <a:tc>
                  <a:txBody>
                    <a:bodyPr/>
                    <a:lstStyle/>
                    <a:p>
                      <a:r>
                        <a:rPr lang="en-IN" dirty="0"/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London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22">
                <a:tc>
                  <a:txBody>
                    <a:bodyPr/>
                    <a:lstStyle/>
                    <a:p>
                      <a:r>
                        <a:rPr lang="en-IN" dirty="0"/>
                        <a:t>Kolkata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Uttarakhand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Dubai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22">
                <a:tc>
                  <a:txBody>
                    <a:bodyPr/>
                    <a:lstStyle/>
                    <a:p>
                      <a:r>
                        <a:rPr lang="en-IN" dirty="0"/>
                        <a:t>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Tamil Nadu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61">
                <a:tc>
                  <a:txBody>
                    <a:bodyPr/>
                    <a:lstStyle/>
                    <a:p>
                      <a:r>
                        <a:rPr lang="en-IN" dirty="0"/>
                        <a:t>Bengaluru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Karnataka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Tokyo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61">
                <a:tc>
                  <a:txBody>
                    <a:bodyPr/>
                    <a:lstStyle/>
                    <a:p>
                      <a:r>
                        <a:rPr lang="en-IN" dirty="0"/>
                        <a:t>Lucknow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Punjab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Sydney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Flowchart: Connector 5"/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Flowchart: Connector 6"/>
          <p:cNvSpPr/>
          <p:nvPr/>
        </p:nvSpPr>
        <p:spPr>
          <a:xfrm>
            <a:off x="8850134" y="827796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/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/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232872" y="6271130"/>
            <a:ext cx="5351499" cy="609290"/>
            <a:chOff x="618333" y="6026099"/>
            <a:chExt cx="4886323" cy="609290"/>
          </a:xfrm>
        </p:grpSpPr>
        <p:sp>
          <p:nvSpPr>
            <p:cNvPr id="11" name="TextBox 10"/>
            <p:cNvSpPr txBox="1"/>
            <p:nvPr/>
          </p:nvSpPr>
          <p:spPr>
            <a:xfrm>
              <a:off x="1123157" y="6050614"/>
              <a:ext cx="4381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12" name="Graphic 11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3" name="Straight Connector 12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7" y="0"/>
            <a:ext cx="10515600" cy="1121229"/>
          </a:xfrm>
        </p:spPr>
        <p:txBody>
          <a:bodyPr/>
          <a:lstStyle/>
          <a:p>
            <a:pPr algn="ctr"/>
            <a:r>
              <a:rPr lang="en-US" b="1" dirty="0"/>
              <a:t>Postman API for Output</a:t>
            </a:r>
            <a:endParaRPr lang="en-IN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" y="1367745"/>
            <a:ext cx="5377543" cy="4351337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640" y="1405551"/>
            <a:ext cx="5052417" cy="431353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4831" y="4263402"/>
            <a:ext cx="542925" cy="1647826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234057" y="515388"/>
            <a:ext cx="548368" cy="1719551"/>
          </a:xfrm>
          <a:prstGeom prst="rect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232872" y="6271130"/>
            <a:ext cx="5351499" cy="609290"/>
            <a:chOff x="618333" y="6026099"/>
            <a:chExt cx="4886323" cy="609290"/>
          </a:xfrm>
        </p:grpSpPr>
        <p:sp>
          <p:nvSpPr>
            <p:cNvPr id="4" name="TextBox 3"/>
            <p:cNvSpPr txBox="1"/>
            <p:nvPr/>
          </p:nvSpPr>
          <p:spPr>
            <a:xfrm>
              <a:off x="1123157" y="6050614"/>
              <a:ext cx="4381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6" name="Graphic 5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0" name="Straight Connector 9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32304"/>
          </a:xfrm>
        </p:spPr>
        <p:txBody>
          <a:bodyPr/>
          <a:lstStyle/>
          <a:p>
            <a:pPr algn="ctr"/>
            <a:r>
              <a:rPr lang="en-US" b="1" dirty="0"/>
              <a:t>MongoDB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186543"/>
            <a:ext cx="8610600" cy="4990420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I have used MongoDB for storing and managing application data efficiently.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“All project data is efficiently stored and managed using MongoDB for scalability and flexibility.”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MongoDB is used as the database to store and organize application data.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I utilized MongoDB for flexible and scalable data storage.</a:t>
            </a:r>
          </a:p>
          <a:p>
            <a:pPr marL="457200" lvl="1" indent="0">
              <a:buNone/>
            </a:pPr>
            <a:endParaRPr lang="en-IN" sz="2800" dirty="0"/>
          </a:p>
        </p:txBody>
      </p:sp>
      <p:pic>
        <p:nvPicPr>
          <p:cNvPr id="2050" name="Picture 2" descr="What is MongoDB? NoSQL database explained in an easy way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1" y="1962150"/>
            <a:ext cx="2181225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232872" y="6271130"/>
            <a:ext cx="5351499" cy="609290"/>
            <a:chOff x="618333" y="6026099"/>
            <a:chExt cx="4886323" cy="609290"/>
          </a:xfrm>
        </p:grpSpPr>
        <p:sp>
          <p:nvSpPr>
            <p:cNvPr id="5" name="TextBox 4"/>
            <p:cNvSpPr txBox="1"/>
            <p:nvPr/>
          </p:nvSpPr>
          <p:spPr>
            <a:xfrm>
              <a:off x="1123157" y="6050614"/>
              <a:ext cx="4381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6" name="Graphic 5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5871188"/>
            <a:ext cx="3428206" cy="697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grpSp>
        <p:nvGrpSpPr>
          <p:cNvPr id="19" name="Group 18"/>
          <p:cNvGrpSpPr/>
          <p:nvPr/>
        </p:nvGrpSpPr>
        <p:grpSpPr>
          <a:xfrm>
            <a:off x="732633" y="6026099"/>
            <a:ext cx="4886323" cy="388987"/>
            <a:chOff x="618333" y="6026099"/>
            <a:chExt cx="4886323" cy="388987"/>
          </a:xfrm>
        </p:grpSpPr>
        <p:sp>
          <p:nvSpPr>
            <p:cNvPr id="6" name="TextBox 5"/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>
                  <a:solidFill>
                    <a:srgbClr val="1B134C"/>
                  </a:solidFill>
                  <a:latin typeface="Poppins"/>
                  <a:cs typeface="Poppins"/>
                </a:rPr>
                <a:t>PPT Deck Name</a:t>
              </a:r>
              <a:endParaRPr lang="en-US"/>
            </a:p>
          </p:txBody>
        </p:sp>
        <p:pic>
          <p:nvPicPr>
            <p:cNvPr id="8" name="Graphic 7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0" name="Straight Connector 9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1" name="Freeform: Shape 40"/>
          <p:cNvSpPr/>
          <p:nvPr/>
        </p:nvSpPr>
        <p:spPr>
          <a:xfrm>
            <a:off x="5350417" y="5188524"/>
            <a:ext cx="12353" cy="30919"/>
          </a:xfrm>
          <a:custGeom>
            <a:avLst/>
            <a:gdLst>
              <a:gd name="connsiteX0" fmla="*/ 12353 w 12353"/>
              <a:gd name="connsiteY0" fmla="*/ 0 h 30919"/>
              <a:gd name="connsiteX1" fmla="*/ 12353 w 12353"/>
              <a:gd name="connsiteY1" fmla="*/ 30919 h 30919"/>
              <a:gd name="connsiteX2" fmla="*/ 0 w 12353"/>
              <a:gd name="connsiteY2" fmla="*/ 30919 h 30919"/>
              <a:gd name="connsiteX3" fmla="*/ 12353 w 12353"/>
              <a:gd name="connsiteY3" fmla="*/ 0 h 3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53" h="30919">
                <a:moveTo>
                  <a:pt x="12353" y="0"/>
                </a:moveTo>
                <a:lnTo>
                  <a:pt x="12353" y="30919"/>
                </a:lnTo>
                <a:lnTo>
                  <a:pt x="0" y="30919"/>
                </a:lnTo>
                <a:lnTo>
                  <a:pt x="1235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/>
          <p:cNvSpPr/>
          <p:nvPr/>
        </p:nvSpPr>
        <p:spPr>
          <a:xfrm>
            <a:off x="8199398" y="5188528"/>
            <a:ext cx="12351" cy="30914"/>
          </a:xfrm>
          <a:custGeom>
            <a:avLst/>
            <a:gdLst>
              <a:gd name="connsiteX0" fmla="*/ 0 w 12351"/>
              <a:gd name="connsiteY0" fmla="*/ 0 h 30914"/>
              <a:gd name="connsiteX1" fmla="*/ 12351 w 12351"/>
              <a:gd name="connsiteY1" fmla="*/ 30914 h 30914"/>
              <a:gd name="connsiteX2" fmla="*/ 0 w 12351"/>
              <a:gd name="connsiteY2" fmla="*/ 30914 h 30914"/>
              <a:gd name="connsiteX3" fmla="*/ 0 w 12351"/>
              <a:gd name="connsiteY3" fmla="*/ 0 h 3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51" h="30914">
                <a:moveTo>
                  <a:pt x="0" y="0"/>
                </a:moveTo>
                <a:lnTo>
                  <a:pt x="12351" y="30914"/>
                </a:lnTo>
                <a:lnTo>
                  <a:pt x="0" y="3091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0" name="Group 49"/>
          <p:cNvGrpSpPr/>
          <p:nvPr/>
        </p:nvGrpSpPr>
        <p:grpSpPr>
          <a:xfrm rot="6938371">
            <a:off x="985624" y="652133"/>
            <a:ext cx="1711486" cy="2134875"/>
            <a:chOff x="3677188" y="667032"/>
            <a:chExt cx="2836628" cy="3580883"/>
          </a:xfrm>
          <a:effectLst>
            <a:outerShdw blurRad="50800" dist="1905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9" name="Freeform: Shape 48"/>
            <p:cNvSpPr/>
            <p:nvPr/>
          </p:nvSpPr>
          <p:spPr>
            <a:xfrm>
              <a:off x="3677188" y="667032"/>
              <a:ext cx="1418314" cy="3580883"/>
            </a:xfrm>
            <a:custGeom>
              <a:avLst/>
              <a:gdLst>
                <a:gd name="connsiteX0" fmla="*/ 1418314 w 1418314"/>
                <a:gd name="connsiteY0" fmla="*/ 0 h 3580883"/>
                <a:gd name="connsiteX1" fmla="*/ 1418314 w 1418314"/>
                <a:gd name="connsiteY1" fmla="*/ 3023642 h 3580883"/>
                <a:gd name="connsiteX2" fmla="*/ 0 w 1418314"/>
                <a:gd name="connsiteY2" fmla="*/ 3580883 h 3580883"/>
                <a:gd name="connsiteX3" fmla="*/ 0 w 1418314"/>
                <a:gd name="connsiteY3" fmla="*/ 3549964 h 3580883"/>
                <a:gd name="connsiteX4" fmla="*/ 1418313 w 1418314"/>
                <a:gd name="connsiteY4" fmla="*/ 1 h 3580883"/>
                <a:gd name="connsiteX5" fmla="*/ 1418314 w 1418314"/>
                <a:gd name="connsiteY5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8314" h="3580883">
                  <a:moveTo>
                    <a:pt x="1418314" y="0"/>
                  </a:moveTo>
                  <a:lnTo>
                    <a:pt x="1418314" y="3023642"/>
                  </a:lnTo>
                  <a:lnTo>
                    <a:pt x="0" y="3580883"/>
                  </a:lnTo>
                  <a:lnTo>
                    <a:pt x="0" y="3549964"/>
                  </a:lnTo>
                  <a:lnTo>
                    <a:pt x="1418313" y="1"/>
                  </a:lnTo>
                  <a:lnTo>
                    <a:pt x="1418314" y="0"/>
                  </a:lnTo>
                  <a:close/>
                </a:path>
              </a:pathLst>
            </a:custGeom>
            <a:solidFill>
              <a:srgbClr val="F6B0EF"/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  <p:sp>
          <p:nvSpPr>
            <p:cNvPr id="47" name="Freeform: Shape 46"/>
            <p:cNvSpPr/>
            <p:nvPr/>
          </p:nvSpPr>
          <p:spPr>
            <a:xfrm>
              <a:off x="5095502" y="667032"/>
              <a:ext cx="1418314" cy="3580883"/>
            </a:xfrm>
            <a:custGeom>
              <a:avLst/>
              <a:gdLst>
                <a:gd name="connsiteX0" fmla="*/ 0 w 1418314"/>
                <a:gd name="connsiteY0" fmla="*/ 0 h 3580883"/>
                <a:gd name="connsiteX1" fmla="*/ 1418314 w 1418314"/>
                <a:gd name="connsiteY1" fmla="*/ 3549969 h 3580883"/>
                <a:gd name="connsiteX2" fmla="*/ 1418314 w 1418314"/>
                <a:gd name="connsiteY2" fmla="*/ 3580883 h 3580883"/>
                <a:gd name="connsiteX3" fmla="*/ 0 w 1418314"/>
                <a:gd name="connsiteY3" fmla="*/ 3023642 h 3580883"/>
                <a:gd name="connsiteX4" fmla="*/ 0 w 1418314"/>
                <a:gd name="connsiteY4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8314" h="3580883">
                  <a:moveTo>
                    <a:pt x="0" y="0"/>
                  </a:moveTo>
                  <a:lnTo>
                    <a:pt x="1418314" y="3549969"/>
                  </a:lnTo>
                  <a:lnTo>
                    <a:pt x="1418314" y="3580883"/>
                  </a:lnTo>
                  <a:lnTo>
                    <a:pt x="0" y="3023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 rot="6369985">
            <a:off x="3166311" y="1272596"/>
            <a:ext cx="1711486" cy="2134875"/>
            <a:chOff x="3677188" y="667032"/>
            <a:chExt cx="2836628" cy="3580883"/>
          </a:xfrm>
          <a:effectLst>
            <a:outerShdw blurRad="50800" dist="1905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2" name="Freeform: Shape 51"/>
            <p:cNvSpPr/>
            <p:nvPr/>
          </p:nvSpPr>
          <p:spPr>
            <a:xfrm>
              <a:off x="3677188" y="667032"/>
              <a:ext cx="1418314" cy="3580883"/>
            </a:xfrm>
            <a:custGeom>
              <a:avLst/>
              <a:gdLst>
                <a:gd name="connsiteX0" fmla="*/ 1418314 w 1418314"/>
                <a:gd name="connsiteY0" fmla="*/ 0 h 3580883"/>
                <a:gd name="connsiteX1" fmla="*/ 1418314 w 1418314"/>
                <a:gd name="connsiteY1" fmla="*/ 3023642 h 3580883"/>
                <a:gd name="connsiteX2" fmla="*/ 0 w 1418314"/>
                <a:gd name="connsiteY2" fmla="*/ 3580883 h 3580883"/>
                <a:gd name="connsiteX3" fmla="*/ 0 w 1418314"/>
                <a:gd name="connsiteY3" fmla="*/ 3549964 h 3580883"/>
                <a:gd name="connsiteX4" fmla="*/ 1418313 w 1418314"/>
                <a:gd name="connsiteY4" fmla="*/ 1 h 3580883"/>
                <a:gd name="connsiteX5" fmla="*/ 1418314 w 1418314"/>
                <a:gd name="connsiteY5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8314" h="3580883">
                  <a:moveTo>
                    <a:pt x="1418314" y="0"/>
                  </a:moveTo>
                  <a:lnTo>
                    <a:pt x="1418314" y="3023642"/>
                  </a:lnTo>
                  <a:lnTo>
                    <a:pt x="0" y="3580883"/>
                  </a:lnTo>
                  <a:lnTo>
                    <a:pt x="0" y="3549964"/>
                  </a:lnTo>
                  <a:lnTo>
                    <a:pt x="1418313" y="1"/>
                  </a:lnTo>
                  <a:lnTo>
                    <a:pt x="1418314" y="0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  <p:sp>
          <p:nvSpPr>
            <p:cNvPr id="53" name="Freeform: Shape 52"/>
            <p:cNvSpPr/>
            <p:nvPr/>
          </p:nvSpPr>
          <p:spPr>
            <a:xfrm>
              <a:off x="5095502" y="667032"/>
              <a:ext cx="1418314" cy="3580883"/>
            </a:xfrm>
            <a:custGeom>
              <a:avLst/>
              <a:gdLst>
                <a:gd name="connsiteX0" fmla="*/ 0 w 1418314"/>
                <a:gd name="connsiteY0" fmla="*/ 0 h 3580883"/>
                <a:gd name="connsiteX1" fmla="*/ 1418314 w 1418314"/>
                <a:gd name="connsiteY1" fmla="*/ 3549969 h 3580883"/>
                <a:gd name="connsiteX2" fmla="*/ 1418314 w 1418314"/>
                <a:gd name="connsiteY2" fmla="*/ 3580883 h 3580883"/>
                <a:gd name="connsiteX3" fmla="*/ 0 w 1418314"/>
                <a:gd name="connsiteY3" fmla="*/ 3023642 h 3580883"/>
                <a:gd name="connsiteX4" fmla="*/ 0 w 1418314"/>
                <a:gd name="connsiteY4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8314" h="3580883">
                  <a:moveTo>
                    <a:pt x="0" y="0"/>
                  </a:moveTo>
                  <a:lnTo>
                    <a:pt x="1418314" y="3549969"/>
                  </a:lnTo>
                  <a:lnTo>
                    <a:pt x="1418314" y="3580883"/>
                  </a:lnTo>
                  <a:lnTo>
                    <a:pt x="0" y="3023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 rot="3580616">
            <a:off x="10329586" y="-4806"/>
            <a:ext cx="1711486" cy="2134875"/>
            <a:chOff x="3677188" y="667032"/>
            <a:chExt cx="2836628" cy="3580883"/>
          </a:xfrm>
          <a:effectLst>
            <a:outerShdw blurRad="50800" dist="1905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5" name="Freeform: Shape 54"/>
            <p:cNvSpPr/>
            <p:nvPr/>
          </p:nvSpPr>
          <p:spPr>
            <a:xfrm>
              <a:off x="3677188" y="667032"/>
              <a:ext cx="1418314" cy="3580883"/>
            </a:xfrm>
            <a:custGeom>
              <a:avLst/>
              <a:gdLst>
                <a:gd name="connsiteX0" fmla="*/ 1418314 w 1418314"/>
                <a:gd name="connsiteY0" fmla="*/ 0 h 3580883"/>
                <a:gd name="connsiteX1" fmla="*/ 1418314 w 1418314"/>
                <a:gd name="connsiteY1" fmla="*/ 3023642 h 3580883"/>
                <a:gd name="connsiteX2" fmla="*/ 0 w 1418314"/>
                <a:gd name="connsiteY2" fmla="*/ 3580883 h 3580883"/>
                <a:gd name="connsiteX3" fmla="*/ 0 w 1418314"/>
                <a:gd name="connsiteY3" fmla="*/ 3549964 h 3580883"/>
                <a:gd name="connsiteX4" fmla="*/ 1418313 w 1418314"/>
                <a:gd name="connsiteY4" fmla="*/ 1 h 3580883"/>
                <a:gd name="connsiteX5" fmla="*/ 1418314 w 1418314"/>
                <a:gd name="connsiteY5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8314" h="3580883">
                  <a:moveTo>
                    <a:pt x="1418314" y="0"/>
                  </a:moveTo>
                  <a:lnTo>
                    <a:pt x="1418314" y="3023642"/>
                  </a:lnTo>
                  <a:lnTo>
                    <a:pt x="0" y="3580883"/>
                  </a:lnTo>
                  <a:lnTo>
                    <a:pt x="0" y="3549964"/>
                  </a:lnTo>
                  <a:lnTo>
                    <a:pt x="1418313" y="1"/>
                  </a:lnTo>
                  <a:lnTo>
                    <a:pt x="1418314" y="0"/>
                  </a:lnTo>
                  <a:close/>
                </a:path>
              </a:pathLst>
            </a:custGeom>
            <a:solidFill>
              <a:srgbClr val="EA7E68"/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  <p:sp>
          <p:nvSpPr>
            <p:cNvPr id="56" name="Freeform: Shape 55"/>
            <p:cNvSpPr/>
            <p:nvPr/>
          </p:nvSpPr>
          <p:spPr>
            <a:xfrm>
              <a:off x="5095502" y="667032"/>
              <a:ext cx="1418314" cy="3580883"/>
            </a:xfrm>
            <a:custGeom>
              <a:avLst/>
              <a:gdLst>
                <a:gd name="connsiteX0" fmla="*/ 0 w 1418314"/>
                <a:gd name="connsiteY0" fmla="*/ 0 h 3580883"/>
                <a:gd name="connsiteX1" fmla="*/ 1418314 w 1418314"/>
                <a:gd name="connsiteY1" fmla="*/ 3549969 h 3580883"/>
                <a:gd name="connsiteX2" fmla="*/ 1418314 w 1418314"/>
                <a:gd name="connsiteY2" fmla="*/ 3580883 h 3580883"/>
                <a:gd name="connsiteX3" fmla="*/ 0 w 1418314"/>
                <a:gd name="connsiteY3" fmla="*/ 3023642 h 3580883"/>
                <a:gd name="connsiteX4" fmla="*/ 0 w 1418314"/>
                <a:gd name="connsiteY4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8314" h="3580883">
                  <a:moveTo>
                    <a:pt x="0" y="0"/>
                  </a:moveTo>
                  <a:lnTo>
                    <a:pt x="1418314" y="3549969"/>
                  </a:lnTo>
                  <a:lnTo>
                    <a:pt x="1418314" y="3580883"/>
                  </a:lnTo>
                  <a:lnTo>
                    <a:pt x="0" y="3023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 rot="4251561">
            <a:off x="8142680" y="990100"/>
            <a:ext cx="1711486" cy="2134875"/>
            <a:chOff x="3677188" y="667032"/>
            <a:chExt cx="2836628" cy="3580883"/>
          </a:xfrm>
          <a:effectLst>
            <a:outerShdw blurRad="50800" dist="1905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8" name="Freeform: Shape 57"/>
            <p:cNvSpPr/>
            <p:nvPr/>
          </p:nvSpPr>
          <p:spPr>
            <a:xfrm>
              <a:off x="3677188" y="667032"/>
              <a:ext cx="1418314" cy="3580883"/>
            </a:xfrm>
            <a:custGeom>
              <a:avLst/>
              <a:gdLst>
                <a:gd name="connsiteX0" fmla="*/ 1418314 w 1418314"/>
                <a:gd name="connsiteY0" fmla="*/ 0 h 3580883"/>
                <a:gd name="connsiteX1" fmla="*/ 1418314 w 1418314"/>
                <a:gd name="connsiteY1" fmla="*/ 3023642 h 3580883"/>
                <a:gd name="connsiteX2" fmla="*/ 0 w 1418314"/>
                <a:gd name="connsiteY2" fmla="*/ 3580883 h 3580883"/>
                <a:gd name="connsiteX3" fmla="*/ 0 w 1418314"/>
                <a:gd name="connsiteY3" fmla="*/ 3549964 h 3580883"/>
                <a:gd name="connsiteX4" fmla="*/ 1418313 w 1418314"/>
                <a:gd name="connsiteY4" fmla="*/ 1 h 3580883"/>
                <a:gd name="connsiteX5" fmla="*/ 1418314 w 1418314"/>
                <a:gd name="connsiteY5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8314" h="3580883">
                  <a:moveTo>
                    <a:pt x="1418314" y="0"/>
                  </a:moveTo>
                  <a:lnTo>
                    <a:pt x="1418314" y="3023642"/>
                  </a:lnTo>
                  <a:lnTo>
                    <a:pt x="0" y="3580883"/>
                  </a:lnTo>
                  <a:lnTo>
                    <a:pt x="0" y="3549964"/>
                  </a:lnTo>
                  <a:lnTo>
                    <a:pt x="1418313" y="1"/>
                  </a:lnTo>
                  <a:lnTo>
                    <a:pt x="141831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  <p:sp>
          <p:nvSpPr>
            <p:cNvPr id="59" name="Freeform: Shape 58"/>
            <p:cNvSpPr/>
            <p:nvPr/>
          </p:nvSpPr>
          <p:spPr>
            <a:xfrm>
              <a:off x="5095502" y="667032"/>
              <a:ext cx="1418314" cy="3580883"/>
            </a:xfrm>
            <a:custGeom>
              <a:avLst/>
              <a:gdLst>
                <a:gd name="connsiteX0" fmla="*/ 0 w 1418314"/>
                <a:gd name="connsiteY0" fmla="*/ 0 h 3580883"/>
                <a:gd name="connsiteX1" fmla="*/ 1418314 w 1418314"/>
                <a:gd name="connsiteY1" fmla="*/ 3549969 h 3580883"/>
                <a:gd name="connsiteX2" fmla="*/ 1418314 w 1418314"/>
                <a:gd name="connsiteY2" fmla="*/ 3580883 h 3580883"/>
                <a:gd name="connsiteX3" fmla="*/ 0 w 1418314"/>
                <a:gd name="connsiteY3" fmla="*/ 3023642 h 3580883"/>
                <a:gd name="connsiteX4" fmla="*/ 0 w 1418314"/>
                <a:gd name="connsiteY4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8314" h="3580883">
                  <a:moveTo>
                    <a:pt x="0" y="0"/>
                  </a:moveTo>
                  <a:lnTo>
                    <a:pt x="1418314" y="3549969"/>
                  </a:lnTo>
                  <a:lnTo>
                    <a:pt x="1418314" y="3580883"/>
                  </a:lnTo>
                  <a:lnTo>
                    <a:pt x="0" y="3023642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 rot="5079748">
            <a:off x="5634384" y="1440377"/>
            <a:ext cx="1711486" cy="2134875"/>
            <a:chOff x="3677188" y="667032"/>
            <a:chExt cx="2836628" cy="3580883"/>
          </a:xfrm>
          <a:effectLst>
            <a:outerShdw blurRad="50800" dist="1905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1" name="Freeform: Shape 60"/>
            <p:cNvSpPr/>
            <p:nvPr/>
          </p:nvSpPr>
          <p:spPr>
            <a:xfrm>
              <a:off x="3677188" y="667032"/>
              <a:ext cx="1418314" cy="3580883"/>
            </a:xfrm>
            <a:custGeom>
              <a:avLst/>
              <a:gdLst>
                <a:gd name="connsiteX0" fmla="*/ 1418314 w 1418314"/>
                <a:gd name="connsiteY0" fmla="*/ 0 h 3580883"/>
                <a:gd name="connsiteX1" fmla="*/ 1418314 w 1418314"/>
                <a:gd name="connsiteY1" fmla="*/ 3023642 h 3580883"/>
                <a:gd name="connsiteX2" fmla="*/ 0 w 1418314"/>
                <a:gd name="connsiteY2" fmla="*/ 3580883 h 3580883"/>
                <a:gd name="connsiteX3" fmla="*/ 0 w 1418314"/>
                <a:gd name="connsiteY3" fmla="*/ 3549964 h 3580883"/>
                <a:gd name="connsiteX4" fmla="*/ 1418313 w 1418314"/>
                <a:gd name="connsiteY4" fmla="*/ 1 h 3580883"/>
                <a:gd name="connsiteX5" fmla="*/ 1418314 w 1418314"/>
                <a:gd name="connsiteY5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8314" h="3580883">
                  <a:moveTo>
                    <a:pt x="1418314" y="0"/>
                  </a:moveTo>
                  <a:lnTo>
                    <a:pt x="1418314" y="3023642"/>
                  </a:lnTo>
                  <a:lnTo>
                    <a:pt x="0" y="3580883"/>
                  </a:lnTo>
                  <a:lnTo>
                    <a:pt x="0" y="3549964"/>
                  </a:lnTo>
                  <a:lnTo>
                    <a:pt x="1418313" y="1"/>
                  </a:lnTo>
                  <a:lnTo>
                    <a:pt x="1418314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  <p:sp>
          <p:nvSpPr>
            <p:cNvPr id="62" name="Freeform: Shape 61"/>
            <p:cNvSpPr/>
            <p:nvPr/>
          </p:nvSpPr>
          <p:spPr>
            <a:xfrm>
              <a:off x="5095502" y="667032"/>
              <a:ext cx="1418314" cy="3580883"/>
            </a:xfrm>
            <a:custGeom>
              <a:avLst/>
              <a:gdLst>
                <a:gd name="connsiteX0" fmla="*/ 0 w 1418314"/>
                <a:gd name="connsiteY0" fmla="*/ 0 h 3580883"/>
                <a:gd name="connsiteX1" fmla="*/ 1418314 w 1418314"/>
                <a:gd name="connsiteY1" fmla="*/ 3549969 h 3580883"/>
                <a:gd name="connsiteX2" fmla="*/ 1418314 w 1418314"/>
                <a:gd name="connsiteY2" fmla="*/ 3580883 h 3580883"/>
                <a:gd name="connsiteX3" fmla="*/ 0 w 1418314"/>
                <a:gd name="connsiteY3" fmla="*/ 3023642 h 3580883"/>
                <a:gd name="connsiteX4" fmla="*/ 0 w 1418314"/>
                <a:gd name="connsiteY4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8314" h="3580883">
                  <a:moveTo>
                    <a:pt x="0" y="0"/>
                  </a:moveTo>
                  <a:lnTo>
                    <a:pt x="1418314" y="3549969"/>
                  </a:lnTo>
                  <a:lnTo>
                    <a:pt x="1418314" y="3580883"/>
                  </a:lnTo>
                  <a:lnTo>
                    <a:pt x="0" y="3023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152400" y="6023588"/>
            <a:ext cx="3428206" cy="697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3" name="Rectangle 2"/>
          <p:cNvSpPr/>
          <p:nvPr/>
        </p:nvSpPr>
        <p:spPr>
          <a:xfrm>
            <a:off x="152400" y="6100341"/>
            <a:ext cx="3428206" cy="697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grpSp>
        <p:nvGrpSpPr>
          <p:cNvPr id="4" name="Group 3"/>
          <p:cNvGrpSpPr/>
          <p:nvPr/>
        </p:nvGrpSpPr>
        <p:grpSpPr>
          <a:xfrm>
            <a:off x="232872" y="6271130"/>
            <a:ext cx="5351499" cy="609290"/>
            <a:chOff x="618333" y="6026099"/>
            <a:chExt cx="4886323" cy="609290"/>
          </a:xfrm>
        </p:grpSpPr>
        <p:sp>
          <p:nvSpPr>
            <p:cNvPr id="7" name="TextBox 6"/>
            <p:cNvSpPr txBox="1"/>
            <p:nvPr/>
          </p:nvSpPr>
          <p:spPr>
            <a:xfrm>
              <a:off x="1123157" y="6050614"/>
              <a:ext cx="4381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9" name="Graphic 8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785755" y="3342515"/>
            <a:ext cx="10578931" cy="2601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project successfully built an AI-based tourism planner that provides intelligent, real-time, and optimized itineraries. By combining AI algorithms, NLP, and API integration, it solves the problem of manual travel planning. This system can be scaled into a commercial-grade travel assistant application in the future.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3848" y="529771"/>
            <a:ext cx="62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 rot="300000">
            <a:off x="905679" y="2325042"/>
            <a:ext cx="892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User</a:t>
            </a:r>
            <a:endParaRPr lang="en-IN" sz="2400" b="1" dirty="0"/>
          </a:p>
        </p:txBody>
      </p:sp>
      <p:sp>
        <p:nvSpPr>
          <p:cNvPr id="14" name="TextBox 13"/>
          <p:cNvSpPr txBox="1"/>
          <p:nvPr/>
        </p:nvSpPr>
        <p:spPr>
          <a:xfrm rot="21202275">
            <a:off x="3309970" y="3032028"/>
            <a:ext cx="1185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/>
              <a:t>FastAPI</a:t>
            </a:r>
            <a:r>
              <a:rPr lang="en-IN" sz="2000" b="1" dirty="0"/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 rot="19919811">
            <a:off x="5885918" y="3111682"/>
            <a:ext cx="1716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Database</a:t>
            </a:r>
            <a:r>
              <a:rPr lang="en-IN" sz="2000" dirty="0"/>
              <a:t> 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 rot="19009392">
            <a:off x="8194770" y="2593895"/>
            <a:ext cx="2579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AI Generator</a:t>
            </a:r>
          </a:p>
        </p:txBody>
      </p:sp>
      <p:sp>
        <p:nvSpPr>
          <p:cNvPr id="18" name="TextBox 17"/>
          <p:cNvSpPr txBox="1"/>
          <p:nvPr/>
        </p:nvSpPr>
        <p:spPr>
          <a:xfrm rot="18475750">
            <a:off x="10919975" y="1698014"/>
            <a:ext cx="1456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Output</a:t>
            </a:r>
            <a:endParaRPr lang="en-IN" b="1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0" grpId="0" animBg="1"/>
      <p:bldP spid="13" grpId="0" build="allAtOnce"/>
      <p:bldP spid="15" grpId="0"/>
      <p:bldP spid="12" grpId="0"/>
      <p:bldP spid="14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182"/>
            <a:ext cx="10515600" cy="941161"/>
          </a:xfrm>
        </p:spPr>
        <p:txBody>
          <a:bodyPr/>
          <a:lstStyle/>
          <a:p>
            <a:pPr algn="ctr"/>
            <a:r>
              <a:rPr lang="en-IN" b="1" dirty="0"/>
              <a:t>Future Scope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190405"/>
            <a:ext cx="7293429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real-time APIs (flights, hotels, weather)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Voice-enabled AI travel assistant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Commercial scalability as a SaaS product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Expansion to global multi-language support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personalization using user behavior analytics</a:t>
            </a:r>
          </a:p>
        </p:txBody>
      </p:sp>
      <p:pic>
        <p:nvPicPr>
          <p:cNvPr id="1027" name="Picture 3" descr="AI In Travel | How Artificial Intelligence Is Reforming Travel Industry 20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884" y="1869055"/>
            <a:ext cx="4071257" cy="2544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232872" y="6271130"/>
            <a:ext cx="5351499" cy="609290"/>
            <a:chOff x="618333" y="6026099"/>
            <a:chExt cx="4886323" cy="609290"/>
          </a:xfrm>
        </p:grpSpPr>
        <p:sp>
          <p:nvSpPr>
            <p:cNvPr id="5" name="TextBox 4"/>
            <p:cNvSpPr txBox="1"/>
            <p:nvPr/>
          </p:nvSpPr>
          <p:spPr>
            <a:xfrm>
              <a:off x="1123157" y="6050614"/>
              <a:ext cx="4381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Intelligent AI-Based Travel &amp; Tourism Planner</a:t>
              </a:r>
            </a:p>
          </p:txBody>
        </p:sp>
        <p:pic>
          <p:nvPicPr>
            <p:cNvPr id="6" name="Graphic 5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10777" y="2822680"/>
            <a:ext cx="8389880" cy="121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600" b="1" spc="-3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You!!!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77550" y="4914900"/>
            <a:ext cx="1314450" cy="1943100"/>
          </a:xfrm>
          <a:prstGeom prst="rect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2925" cy="1647826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876</Words>
  <Application>Microsoft Office PowerPoint</Application>
  <PresentationFormat>Widescreen</PresentationFormat>
  <Paragraphs>176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Poppins</vt:lpstr>
      <vt:lpstr>Office Theme</vt:lpstr>
      <vt:lpstr>PowerPoint Presentation</vt:lpstr>
      <vt:lpstr>Abstract</vt:lpstr>
      <vt:lpstr>Objectives</vt:lpstr>
      <vt:lpstr>PowerPoint Presentation</vt:lpstr>
      <vt:lpstr>PowerPoint Presentation</vt:lpstr>
      <vt:lpstr>Comparison of Manual Planning vs AI-based Planning </vt:lpstr>
      <vt:lpstr>Accuracy of Recommendations vs User Satisfaction </vt:lpstr>
      <vt:lpstr>PowerPoint Presentation</vt:lpstr>
      <vt:lpstr>END POINTS</vt:lpstr>
      <vt:lpstr>Tourism Palces To Be Search </vt:lpstr>
      <vt:lpstr>Postman API for Output</vt:lpstr>
      <vt:lpstr>MongoDB</vt:lpstr>
      <vt:lpstr>PowerPoint Presentation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Nandanwar</dc:creator>
  <cp:lastModifiedBy>Tejas Reddy Kota</cp:lastModifiedBy>
  <cp:revision>10</cp:revision>
  <dcterms:created xsi:type="dcterms:W3CDTF">2025-08-25T08:51:00Z</dcterms:created>
  <dcterms:modified xsi:type="dcterms:W3CDTF">2025-09-17T19:19:17Z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385A8758BD85479B9C0F6F5BB44327D7_12</vt:lpwstr>
  </property>
  <property fmtid="{D5CDD505-2E9C-101B-9397-08002B2CF9AE}" pid="3" name="KSOProductBuildVer">
    <vt:lpwstr>1033-12.2.0.21931</vt:lpwstr>
  </property>
</Properties>
</file>